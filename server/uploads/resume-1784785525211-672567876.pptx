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theme/theme1.xml" ContentType="application/vnd.openxmlformats-officedocument.theme+xml"/>
  <Override PartName="/ppt/media/image0.png" ContentType="image/png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  <p:sldId id="258" r:id="rId9"/>
  </p:sldIdLst>
  <p:sldSz cx="7555992" cy="10680192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BFFD9F1B-EE52-40FB-6AD1-E09F68F2DE5F}"/>
    <p:ext uri="{85603EC6-791F-4279-21CC-ED623835CFBB}"/>
    <p:ext uri="{2FE35FB8-3FF4-4097-3E59-7B4D6FCC44D1}"/>
  </p:extLst>
</p:presentationPr>
</file>

<file path=ppt/tableStyles.xml><?xml version="1.0" encoding="utf-8"?>
<a:tblStyleLst xmlns:a="http://schemas.openxmlformats.org/drawingml/2006/main" def="{20DCCD8B-7784-43A4-93DC-B5124140A36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1A849-6B94-45D7-BC75-6BE26672337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CA69-400B-4944-1C48-64438DB64D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BB18DEA-6F78-4E03-777A-19F0519CA1E1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8AB5B-FFE7-44C6-F7AA-503D927C507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1A310-0522-4A8A-51EC-E0CC0E7549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1C961CC-9012-4AFD-2799-AA8C413287C7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54008-5B86-48D7-6AE8-EC04296D5CA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A8972-1AC4-4ACB-5A0B-6975930BA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B1A032B-79F6-448C-6924-29EB3D4997E8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BE81-B860-4131-C2F7-FFF11A9DCE1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8162-BFDA-4287-212E-F17C5EABEC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3BAFA90-56AF-462E-B307-4647EDC9AE91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A38A-8CB7-4806-57FD-A203DCA96E0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FAEB-6FF0-4214-AAB2-AEE34CB5C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7F31314D-16F1-41EB-7F27-8FDEF6557CD4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C2800-49D1-4B0C-6CCA-FF8655F0FB8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40E9-2217-4F1E-8DFB-272F415689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E57ADAE3-84E8-46CF-D3CC-D8561DE1FD71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E15FA-B9D0-4A18-5F8A-073ABAA1046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109B-B80F-4BB5-64E3-663A1A432E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DBB355EF-9E91-4C9D-B1B0-791BC5869780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962E-D66A-467A-D1DA-13AFE702B5D8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215F-C99A-4E1A-2D03-60581471F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174F8D03-B466-407C-4CE2-1F9002C5763D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B4323-FFF8-4BA0-8142-7D9F87C7E51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80C07-FC08-4034-0623-A6ADBDBD60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BB7D4FF-F7F5-45AB-456F-6580274810D4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FDBB7-A36B-4DFE-A602-F85987AC92D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72CF5-9501-4036-84B7-605DAEC9F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043AB3D-BC0C-4B01-83CF-4B3ED6A6C5BF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4D617-BD51-48D4-B046-779E8FA7F514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611E7-16F5-47D9-E3A1-23D5F9A1C5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F32F4257-285C-4ABB-240F-E104944B1353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8B340-215E-41AB-9F1D-0D3CCEBA8C02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69DD0-FA83-452A-6623-37746327E7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0DB5551-9721-4C82-F753-6F98A669087F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1B3ACC34-7F9E-4DAD-3BFD-0E7A3883EE23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2"/>
          <p:cNvSpPr txBox="1"/>
          <p:nvPr/>
        </p:nvSpPr>
        <p:spPr>
          <a:xfrm>
            <a:off x="355600" y="901700"/>
            <a:ext cx="2914650" cy="653891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55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创</a:t>
            </a:r>
            <a:r>
              <a:rPr lang="en-US" altLang="zh-CN" sz="255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业计划书PPT</a:t>
            </a:r>
          </a:p>
          <a:p>
            <a:pPr marL="0" marR="0" indent="0" eaLnBrk="0">
              <a:lnSpc>
                <a:spcPct val="1758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17094"/>
              </a:lnSpc>
              <a:spcBef>
                <a:spcPts val="265"/>
              </a:spcBef>
              <a:spcAft>
                <a:spcPts val="690"/>
              </a:spcAft>
            </a:pPr>
            <a:r>
              <a:rPr lang="en-US" altLang="zh-CN" sz="1950" kern="0" spc="-6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[</a:t>
            </a:r>
            <a:r>
              <a:rPr lang="en-US" altLang="zh-CN" sz="1950" kern="0" spc="-12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项</a:t>
            </a:r>
            <a:r>
              <a:rPr lang="en-US" altLang="zh-CN" sz="1950" kern="0" spc="-125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⽬</a:t>
            </a:r>
            <a:r>
              <a:rPr lang="en-US" altLang="zh-CN" sz="1950" kern="0" spc="-12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名称</a:t>
            </a:r>
            <a:r>
              <a:rPr lang="en-US" altLang="zh-CN" sz="1950" kern="0" spc="-6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]</a:t>
            </a:r>
          </a:p>
          <a:p>
            <a:pPr marL="0" marR="472440" indent="0" eaLnBrk="0">
              <a:lnSpc>
                <a:spcPct val="147916"/>
              </a:lnSpc>
            </a:pPr>
            <a:r>
              <a:rPr lang="en-US" altLang="zh-CN" sz="1200" kern="0" spc="-5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创业团队：</a:t>
            </a:r>
            <a:r>
              <a:rPr lang="en-US" altLang="zh-CN" sz="1200" kern="0" spc="-4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[</a:t>
            </a:r>
            <a:r>
              <a:rPr lang="en-US" altLang="zh-CN" sz="1200" kern="0" spc="-5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团队名称</a:t>
            </a:r>
            <a:r>
              <a:rPr lang="en-US" altLang="zh-CN" sz="1200" kern="0" spc="-4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/核</a:t>
            </a:r>
            <a:r>
              <a:rPr lang="en-US" altLang="zh-CN" sz="1200" kern="0" spc="-4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⼼</a:t>
            </a:r>
            <a:r>
              <a:rPr lang="en-US" altLang="zh-CN" sz="1200" kern="0" spc="-4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成员姓名</a:t>
            </a:r>
            <a:r>
              <a:rPr lang="en-US" altLang="zh-CN" sz="1200" kern="0" spc="-2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]</a:t>
            </a:r>
            <a:r>
              <a:rPr baseline="0" lang="en-US" altLang="zh-CN" sz="1200" kern="0" spc="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200" kern="0" spc="-5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⽇</a:t>
            </a:r>
            <a:r>
              <a:rPr lang="en-US" altLang="zh-CN" sz="1200" kern="0" spc="-5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期：</a:t>
            </a:r>
            <a:r>
              <a:rPr lang="en-US" altLang="zh-CN" sz="1200" kern="0" spc="-4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[</a:t>
            </a:r>
            <a:r>
              <a:rPr lang="en-US" altLang="zh-CN" sz="1200" kern="0" spc="-5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提交</a:t>
            </a:r>
            <a:r>
              <a:rPr lang="en-US" altLang="zh-CN" sz="1200" kern="0" spc="-4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/展</a:t>
            </a:r>
            <a:r>
              <a:rPr lang="en-US" altLang="zh-CN" sz="1200" kern="0" spc="-4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⽰⽇</a:t>
            </a:r>
            <a:r>
              <a:rPr lang="en-US" altLang="zh-CN" sz="1200" kern="0" spc="-4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期</a:t>
            </a:r>
            <a:r>
              <a:rPr lang="en-US" altLang="zh-CN" sz="1200" kern="0" spc="-2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]</a:t>
            </a:r>
            <a:r>
              <a:rPr baseline="0" lang="en-US" altLang="zh-CN" sz="1200" kern="0" spc="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</a:p>
          <a:p>
            <a:pPr marL="0" marR="0" indent="0" eaLnBrk="0">
              <a:lnSpc>
                <a:spcPct val="629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20833"/>
              </a:lnSpc>
              <a:spcBef>
                <a:spcPts val="85"/>
              </a:spcBef>
              <a:spcAft>
                <a:spcPts val="45"/>
              </a:spcAft>
            </a:pP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视觉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建议：搭配项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⽬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相关简洁logo或背景图</a:t>
            </a:r>
          </a:p>
          <a:p>
            <a:pPr marL="0" marR="0" indent="0" eaLnBrk="0">
              <a:lnSpc>
                <a:spcPct val="1162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21212"/>
              </a:lnSpc>
              <a:spcBef>
                <a:spcPts val="329"/>
              </a:spcBef>
              <a:spcAft>
                <a:spcPts val="615"/>
              </a:spcAft>
            </a:pPr>
            <a:r>
              <a:rPr lang="en-US" altLang="zh-CN" sz="1650" kern="0" spc="-15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⽬</a:t>
            </a:r>
            <a:r>
              <a:rPr lang="en-US" altLang="zh-CN" sz="165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录</a:t>
            </a:r>
          </a:p>
          <a:p>
            <a:pPr marL="228600" marR="0" indent="-209550" eaLnBrk="0" lvl="0">
              <a:lnSpc>
                <a:spcPct val="118750"/>
              </a:lnSpc>
              <a:buClr>
                <a:srgbClr val="1456F0"/>
              </a:buClr>
              <a:buAutoNum type="arabicPeriod"/>
            </a:pP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项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⽬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概述</a:t>
            </a:r>
          </a:p>
          <a:p>
            <a:pPr marL="0" marR="0" indent="0" eaLnBrk="0">
              <a:lnSpc>
                <a:spcPct val="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28600" marR="0" indent="-209550" eaLnBrk="0" lvl="0">
              <a:lnSpc>
                <a:spcPct val="99652"/>
              </a:lnSpc>
              <a:buClr>
                <a:srgbClr val="1456F0"/>
              </a:buClr>
              <a:buAutoNum type="arabicPeriod" startAt="2"/>
            </a:pP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市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场分析</a:t>
            </a:r>
          </a:p>
          <a:p>
            <a:pPr marL="0" marR="0" indent="0" eaLnBrk="0">
              <a:lnSpc>
                <a:spcPct val="929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28600" marR="0" indent="-209550" eaLnBrk="0" lvl="0">
              <a:lnSpc>
                <a:spcPct val="99652"/>
              </a:lnSpc>
              <a:buClr>
                <a:srgbClr val="1456F0"/>
              </a:buClr>
              <a:buAutoNum type="arabicPeriod" startAt="3"/>
            </a:pPr>
            <a:r>
              <a:rPr lang="en-US" altLang="zh-CN" sz="1200" kern="0" spc="-4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产</a:t>
            </a:r>
            <a:r>
              <a:rPr lang="en-US" altLang="zh-CN" sz="1200" kern="0" spc="-2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品</a:t>
            </a: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/</a:t>
            </a:r>
            <a:r>
              <a:rPr lang="en-US" altLang="zh-CN" sz="1200" kern="0" spc="-2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服务介绍</a:t>
            </a:r>
          </a:p>
          <a:p>
            <a:pPr marL="0" marR="0" indent="0" eaLnBrk="0">
              <a:lnSpc>
                <a:spcPct val="929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28600" marR="0" indent="-209550" eaLnBrk="0" lvl="0">
              <a:lnSpc>
                <a:spcPct val="99652"/>
              </a:lnSpc>
              <a:buClr>
                <a:srgbClr val="1456F0"/>
              </a:buClr>
              <a:buAutoNum type="arabicPeriod" startAt="4"/>
            </a:pP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商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业模式</a:t>
            </a:r>
          </a:p>
          <a:p>
            <a:pPr marL="0" marR="0" indent="0" eaLnBrk="0">
              <a:lnSpc>
                <a:spcPct val="929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28600" marR="0" indent="-209550" eaLnBrk="0" lvl="0">
              <a:lnSpc>
                <a:spcPct val="99652"/>
              </a:lnSpc>
              <a:buClr>
                <a:srgbClr val="1456F0"/>
              </a:buClr>
              <a:buAutoNum type="arabicPeriod" startAt="5"/>
            </a:pP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运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营计划</a:t>
            </a:r>
          </a:p>
          <a:p>
            <a:pPr marL="0" marR="0" indent="0" eaLnBrk="0">
              <a:lnSpc>
                <a:spcPct val="929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28600" marR="0" indent="-209550" eaLnBrk="0" lvl="0">
              <a:lnSpc>
                <a:spcPct val="99652"/>
              </a:lnSpc>
              <a:buClr>
                <a:srgbClr val="1456F0"/>
              </a:buClr>
              <a:buAutoNum type="arabicPeriod" startAt="6"/>
            </a:pP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团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队介绍</a:t>
            </a:r>
          </a:p>
          <a:p>
            <a:pPr marL="0" marR="0" indent="0" eaLnBrk="0">
              <a:lnSpc>
                <a:spcPct val="929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28600" marR="0" indent="-209550" eaLnBrk="0" lvl="0">
              <a:lnSpc>
                <a:spcPct val="99652"/>
              </a:lnSpc>
              <a:buClr>
                <a:srgbClr val="1456F0"/>
              </a:buClr>
              <a:buAutoNum type="arabicPeriod" startAt="7"/>
            </a:pP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财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务规划</a:t>
            </a:r>
          </a:p>
          <a:p>
            <a:pPr marL="0" marR="0" indent="0" eaLnBrk="0">
              <a:lnSpc>
                <a:spcPct val="929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28600" marR="0" indent="-209550" eaLnBrk="0" lvl="0">
              <a:lnSpc>
                <a:spcPct val="118750"/>
              </a:lnSpc>
              <a:buClr>
                <a:srgbClr val="1456F0"/>
              </a:buClr>
              <a:buAutoNum type="arabicPeriod" startAt="8"/>
            </a:pP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⻛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险评估与应对</a:t>
            </a:r>
          </a:p>
          <a:p>
            <a:pPr marL="0" marR="0" indent="0" eaLnBrk="0">
              <a:lnSpc>
                <a:spcPct val="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28600" marR="0" indent="-209550" eaLnBrk="0" lvl="0">
              <a:lnSpc>
                <a:spcPct val="99652"/>
              </a:lnSpc>
              <a:buClr>
                <a:srgbClr val="1456F0"/>
              </a:buClr>
              <a:buAutoNum type="arabicPeriod" startAt="9"/>
            </a:pP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发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展愿景</a:t>
            </a:r>
          </a:p>
          <a:p>
            <a:pPr marL="0" marR="0" indent="0" eaLnBrk="0">
              <a:lnSpc>
                <a:spcPct val="929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304800" marR="0" indent="-285750" eaLnBrk="0" lvl="0">
              <a:lnSpc>
                <a:spcPct val="118750"/>
              </a:lnSpc>
              <a:buClr>
                <a:srgbClr val="1456F0"/>
              </a:buClr>
              <a:buAutoNum type="arabicPeriod" startAt="10"/>
            </a:pP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联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系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⽅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式</a:t>
            </a:r>
          </a:p>
          <a:p>
            <a:pPr marL="0" marR="0" indent="0" eaLnBrk="0">
              <a:lnSpc>
                <a:spcPct val="12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20202"/>
              </a:lnSpc>
              <a:spcBef>
                <a:spcPts val="330"/>
              </a:spcBef>
              <a:spcAft>
                <a:spcPts val="695"/>
              </a:spcAft>
            </a:pPr>
            <a:r>
              <a:rPr lang="en-US" altLang="zh-CN" sz="165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项</a:t>
            </a:r>
            <a:r>
              <a:rPr lang="en-US" altLang="zh-CN" sz="165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⽬</a:t>
            </a:r>
            <a:r>
              <a:rPr lang="en-US" altLang="zh-CN" sz="165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概述</a:t>
            </a:r>
          </a:p>
          <a:p>
            <a:pPr marL="228600" marR="0" indent="-201216" eaLnBrk="0" lvl="0">
              <a:lnSpc>
                <a:spcPct val="106944"/>
              </a:lnSpc>
              <a:spcAft>
                <a:spcPts val="45"/>
              </a:spcAft>
              <a:buClr>
                <a:srgbClr val="1456F0"/>
              </a:buClr>
              <a:buSzPct val="92000"/>
              <a:buFont typeface="Arial" panose="34" charset="0"/>
              <a:buChar char="•"/>
            </a:pP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AI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驱动的精准营销算法</a:t>
            </a:r>
          </a:p>
        </p:txBody>
      </p:sp>
      <p:sp>
        <p:nvSpPr>
          <p:cNvPr id="3" name="VectorPath 3"/>
          <p:cNvSpPr/>
          <p:nvPr/>
        </p:nvSpPr>
        <p:spPr>
          <a:xfrm>
            <a:off x="355600" y="8232775"/>
            <a:ext cx="6838950" cy="571500"/>
          </a:xfrm>
          <a:custGeom>
            <a:rect l="l" t="t" r="r" b="b"/>
            <a:pathLst>
              <a:path w="6838950" h="571373">
                <a:moveTo>
                  <a:pt x="4762" y="495173"/>
                </a:moveTo>
                <a:lnTo>
                  <a:pt x="4762" y="76073"/>
                </a:lnTo>
                <a:cubicBezTo>
                  <a:pt x="4762" y="71382"/>
                  <a:pt x="5220" y="66736"/>
                  <a:pt x="6135" y="62136"/>
                </a:cubicBezTo>
                <a:cubicBezTo>
                  <a:pt x="7050" y="57535"/>
                  <a:pt x="8405" y="53069"/>
                  <a:pt x="10200" y="48734"/>
                </a:cubicBezTo>
                <a:cubicBezTo>
                  <a:pt x="11995" y="44401"/>
                  <a:pt x="14196" y="40284"/>
                  <a:pt x="16802" y="36384"/>
                </a:cubicBezTo>
                <a:cubicBezTo>
                  <a:pt x="19408" y="32484"/>
                  <a:pt x="22369" y="28876"/>
                  <a:pt x="25686" y="25559"/>
                </a:cubicBezTo>
                <a:cubicBezTo>
                  <a:pt x="29003" y="22243"/>
                  <a:pt x="32611" y="19281"/>
                  <a:pt x="36511" y="16674"/>
                </a:cubicBezTo>
                <a:cubicBezTo>
                  <a:pt x="40412" y="14068"/>
                  <a:pt x="44528" y="11867"/>
                  <a:pt x="48862" y="10073"/>
                </a:cubicBezTo>
                <a:cubicBezTo>
                  <a:pt x="53196" y="8278"/>
                  <a:pt x="57663" y="6923"/>
                  <a:pt x="62263" y="6009"/>
                </a:cubicBezTo>
                <a:cubicBezTo>
                  <a:pt x="66864" y="5093"/>
                  <a:pt x="71509" y="4636"/>
                  <a:pt x="76200" y="4636"/>
                </a:cubicBezTo>
                <a:lnTo>
                  <a:pt x="6762750" y="4636"/>
                </a:lnTo>
                <a:cubicBezTo>
                  <a:pt x="6767442" y="4636"/>
                  <a:pt x="6772087" y="5093"/>
                  <a:pt x="6776686" y="6009"/>
                </a:cubicBezTo>
                <a:cubicBezTo>
                  <a:pt x="6781287" y="6923"/>
                  <a:pt x="6785754" y="8278"/>
                  <a:pt x="6790088" y="10073"/>
                </a:cubicBezTo>
                <a:cubicBezTo>
                  <a:pt x="6794421" y="11867"/>
                  <a:pt x="6798538" y="14068"/>
                  <a:pt x="6802438" y="16674"/>
                </a:cubicBezTo>
                <a:cubicBezTo>
                  <a:pt x="6806338" y="19281"/>
                  <a:pt x="6809947" y="22243"/>
                  <a:pt x="6813263" y="25559"/>
                </a:cubicBezTo>
                <a:cubicBezTo>
                  <a:pt x="6816580" y="28876"/>
                  <a:pt x="6819542" y="32484"/>
                  <a:pt x="6822148" y="36384"/>
                </a:cubicBezTo>
                <a:cubicBezTo>
                  <a:pt x="6824753" y="40283"/>
                  <a:pt x="6826954" y="44400"/>
                  <a:pt x="6828749" y="48734"/>
                </a:cubicBezTo>
                <a:cubicBezTo>
                  <a:pt x="6830544" y="53069"/>
                  <a:pt x="6831898" y="57535"/>
                  <a:pt x="6832814" y="62136"/>
                </a:cubicBezTo>
                <a:cubicBezTo>
                  <a:pt x="6833730" y="66736"/>
                  <a:pt x="6834188" y="71382"/>
                  <a:pt x="6834188" y="76073"/>
                </a:cubicBezTo>
                <a:lnTo>
                  <a:pt x="6834188" y="495173"/>
                </a:lnTo>
                <a:cubicBezTo>
                  <a:pt x="6834188" y="499865"/>
                  <a:pt x="6833730" y="504509"/>
                  <a:pt x="6832814" y="509109"/>
                </a:cubicBezTo>
                <a:cubicBezTo>
                  <a:pt x="6831898" y="513710"/>
                  <a:pt x="6830544" y="518178"/>
                  <a:pt x="6828749" y="522510"/>
                </a:cubicBezTo>
                <a:cubicBezTo>
                  <a:pt x="6826954" y="526844"/>
                  <a:pt x="6824753" y="530960"/>
                  <a:pt x="6822148" y="534860"/>
                </a:cubicBezTo>
                <a:cubicBezTo>
                  <a:pt x="6819542" y="538761"/>
                  <a:pt x="6816580" y="542370"/>
                  <a:pt x="6813263" y="545686"/>
                </a:cubicBezTo>
                <a:cubicBezTo>
                  <a:pt x="6809947" y="549003"/>
                  <a:pt x="6806338" y="551964"/>
                  <a:pt x="6802438" y="554571"/>
                </a:cubicBezTo>
                <a:cubicBezTo>
                  <a:pt x="6798538" y="557176"/>
                  <a:pt x="6794421" y="559377"/>
                  <a:pt x="6790088" y="561173"/>
                </a:cubicBezTo>
                <a:cubicBezTo>
                  <a:pt x="6785754" y="562967"/>
                  <a:pt x="6781287" y="564321"/>
                  <a:pt x="6776686" y="565237"/>
                </a:cubicBezTo>
                <a:cubicBezTo>
                  <a:pt x="6772087" y="566153"/>
                  <a:pt x="6767442" y="566611"/>
                  <a:pt x="6762750" y="566611"/>
                </a:cubicBezTo>
                <a:lnTo>
                  <a:pt x="76200" y="566611"/>
                </a:lnTo>
                <a:cubicBezTo>
                  <a:pt x="71509" y="566611"/>
                  <a:pt x="66864" y="566153"/>
                  <a:pt x="62263" y="565237"/>
                </a:cubicBezTo>
                <a:cubicBezTo>
                  <a:pt x="57663" y="564321"/>
                  <a:pt x="53196" y="562967"/>
                  <a:pt x="48862" y="561173"/>
                </a:cubicBezTo>
                <a:cubicBezTo>
                  <a:pt x="44528" y="559377"/>
                  <a:pt x="40412" y="557176"/>
                  <a:pt x="36511" y="554571"/>
                </a:cubicBezTo>
                <a:cubicBezTo>
                  <a:pt x="32611" y="551964"/>
                  <a:pt x="29003" y="549003"/>
                  <a:pt x="25686" y="545686"/>
                </a:cubicBezTo>
                <a:cubicBezTo>
                  <a:pt x="22369" y="542370"/>
                  <a:pt x="19408" y="538761"/>
                  <a:pt x="16802" y="534860"/>
                </a:cubicBezTo>
                <a:cubicBezTo>
                  <a:pt x="14196" y="530960"/>
                  <a:pt x="11995" y="526844"/>
                  <a:pt x="10200" y="522510"/>
                </a:cubicBezTo>
                <a:cubicBezTo>
                  <a:pt x="8405" y="518178"/>
                  <a:pt x="7050" y="513710"/>
                  <a:pt x="6135" y="509109"/>
                </a:cubicBezTo>
                <a:cubicBezTo>
                  <a:pt x="5220" y="504509"/>
                  <a:pt x="4762" y="499865"/>
                  <a:pt x="4762" y="495173"/>
                </a:cubicBezTo>
              </a:path>
            </a:pathLst>
          </a:custGeom>
          <a:ln w="9525" cap="flat" cmpd="sng">
            <a:solidFill>
              <a:srgbClr val="FED4A4">
                <a:alpha val="100000"/>
              </a:srgbClr>
            </a:solidFill>
            <a:miter lim="400000"/>
          </a:ln>
        </p:spPr>
      </p:sp>
      <p:pic>
        <p:nvPicPr>
          <p:cNvPr id="4" name="08618557-36A1-4E2C-490F-234B9F8A2B84"/>
          <p:cNvPicPr>
            <a:picLocks noChangeAspect="1"/>
          </p:cNvPicPr>
          <p:nvPr/>
        </p:nvPicPr>
        <p:blipFill>
          <a:blip r:embed="rId2" cstate="print">
            <a:extLst>
              <a:ext uri="{CF933498-2529-4461-900B-962F92402012}"/>
            </a:extLst>
          </a:blip>
          <a:srcRect/>
          <a:stretch>
            <a:fillRect/>
          </a:stretch>
        </p:blipFill>
        <p:spPr>
          <a:xfrm>
            <a:off x="503555" y="8418194"/>
            <a:ext cx="491067" cy="228600"/>
          </a:xfrm>
          <a:prstGeom prst="rect">
            <a:avLst/>
          </a:prstGeom>
        </p:spPr>
      </p:pic>
      <p:sp>
        <p:nvSpPr>
          <p:cNvPr id="5" name="TextBox5"/>
          <p:cNvSpPr txBox="1"/>
          <p:nvPr/>
        </p:nvSpPr>
        <p:spPr>
          <a:xfrm>
            <a:off x="822325" y="8475980"/>
            <a:ext cx="152400" cy="187325"/>
          </a:xfrm>
          <a:prstGeom prst="rect">
            <a:avLst/>
          </a:prstGeom>
          <a:noFill/>
        </p:spPr>
        <p:txBody>
          <a:bodyPr wrap="square" lIns="0" rIns="0" bIns="0" tIns="2540" rtlCol="0">
            <a:spAutoFit/>
          </a:bodyPr>
          <a:lstStyle/>
          <a:p>
            <a:pPr marL="0" marR="0" indent="0" eaLnBrk="0">
              <a:lnSpc>
                <a:spcPct val="102083"/>
              </a:lnSpc>
              <a:spcBef>
                <a:spcPts val="19"/>
              </a:spcBef>
              <a:spcAft>
                <a:spcPts val="14"/>
              </a:spcAft>
            </a:pPr>
            <a:r>
              <a:rPr lang="en-US" altLang="zh-CN" sz="1800" kern="0" spc="-25" baseline="24842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382905" y="7575550"/>
            <a:ext cx="3640137" cy="1101725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201295" marR="0" indent="-201216" eaLnBrk="0" lvl="0">
              <a:lnSpc>
                <a:spcPct val="121527"/>
              </a:lnSpc>
              <a:spcAft>
                <a:spcPts val="835"/>
              </a:spcAft>
              <a:buClr>
                <a:srgbClr val="1456F0"/>
              </a:buClr>
              <a:buSzPct val="92000"/>
              <a:buFont typeface="Arial" panose="34" charset="0"/>
              <a:buChar char="•"/>
            </a:pP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低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成本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⾼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效获客模式</a:t>
            </a:r>
          </a:p>
          <a:p>
            <a:pPr marL="201295" marR="0" indent="-201216" eaLnBrk="0" lvl="0">
              <a:lnSpc>
                <a:spcPct val="118750"/>
              </a:lnSpc>
              <a:buClr>
                <a:srgbClr val="1456F0"/>
              </a:buClr>
              <a:buSzPct val="92000"/>
              <a:buFont typeface="Arial" panose="34" charset="0"/>
              <a:buChar char="•"/>
            </a:pP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站式服务体验</a:t>
            </a:r>
          </a:p>
          <a:p>
            <a:pPr marL="0" marR="0" indent="0" eaLnBrk="0">
              <a:lnSpc>
                <a:spcPct val="1945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591820" marR="0" indent="0" eaLnBrk="0">
              <a:lnSpc>
                <a:spcPct val="123611"/>
              </a:lnSpc>
              <a:spcBef>
                <a:spcPts val="239"/>
              </a:spcBef>
              <a:spcAft>
                <a:spcPts val="130"/>
              </a:spcAft>
            </a:pPr>
            <a:r>
              <a:rPr lang="en-US" altLang="zh-CN" sz="1800" kern="0" spc="-25" baseline="20086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句</a:t>
            </a:r>
            <a:r>
              <a:rPr lang="en-US" altLang="zh-CN" sz="1800" kern="0" spc="0" baseline="20086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话概括：让中</a:t>
            </a:r>
            <a:r>
              <a:rPr lang="en-US" altLang="zh-CN" sz="1800" kern="0" spc="0" baseline="20086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⼩</a:t>
            </a:r>
            <a:r>
              <a:rPr lang="en-US" altLang="zh-CN" sz="1800" kern="0" spc="0" baseline="20086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商家的营销更智能、更</a:t>
            </a:r>
            <a:r>
              <a:rPr lang="en-US" altLang="zh-CN" sz="1800" kern="0" spc="0" baseline="20086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⾼</a:t>
            </a:r>
            <a:r>
              <a:rPr lang="en-US" altLang="zh-CN" sz="1800" kern="0" spc="0" baseline="20086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效</a:t>
            </a:r>
          </a:p>
        </p:txBody>
      </p:sp>
      <p:sp>
        <p:nvSpPr>
          <p:cNvPr id="7" name="TextBox7"/>
          <p:cNvSpPr txBox="1"/>
          <p:nvPr/>
        </p:nvSpPr>
        <p:spPr>
          <a:xfrm>
            <a:off x="355600" y="9043670"/>
            <a:ext cx="6724650" cy="1268412"/>
          </a:xfrm>
          <a:prstGeom prst="rect">
            <a:avLst/>
          </a:prstGeom>
          <a:noFill/>
        </p:spPr>
        <p:txBody>
          <a:bodyPr wrap="square" lIns="0" rIns="0" bIns="0" tIns="3810" rtlCol="0">
            <a:spAutoFit/>
          </a:bodyPr>
          <a:lstStyle/>
          <a:p>
            <a:pPr marL="0" marR="0" indent="0" eaLnBrk="0">
              <a:lnSpc>
                <a:spcPct val="101767"/>
              </a:lnSpc>
              <a:spcBef>
                <a:spcPts val="30"/>
              </a:spcBef>
              <a:spcAft>
                <a:spcPts val="5"/>
              </a:spcAft>
            </a:pPr>
            <a:r>
              <a:rPr lang="en-US" altLang="zh-CN" sz="165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市</a:t>
            </a:r>
            <a:r>
              <a:rPr lang="en-US" altLang="zh-CN" sz="165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场分析</a:t>
            </a:r>
          </a:p>
          <a:p>
            <a:pPr marL="0" marR="0" indent="0" eaLnBrk="0">
              <a:lnSpc>
                <a:spcPct val="14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1944"/>
              </a:lnSpc>
              <a:spcBef>
                <a:spcPts val="29"/>
              </a:spcBef>
              <a:spcAft>
                <a:spcPts val="5"/>
              </a:spcAft>
            </a:pPr>
            <a:r>
              <a:rPr lang="en-US" altLang="zh-CN" sz="15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市</a:t>
            </a:r>
            <a:r>
              <a:rPr lang="en-US" altLang="zh-CN" sz="15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场规模与趋势</a:t>
            </a:r>
          </a:p>
          <a:p>
            <a:pPr marL="0" marR="0" indent="0" eaLnBrk="0">
              <a:lnSpc>
                <a:spcPct val="854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17534"/>
              </a:lnSpc>
            </a:pP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2024年中国中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⼩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商家服务市场规模达X亿元，年复合增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⻓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率为X%，预计2027年将突破X亿元（数据来</a:t>
            </a:r>
            <a:r>
              <a:rPr baseline="0" lang="en-US" altLang="zh-CN" sz="1200" kern="0" spc="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br>
              <a:rPr lang="en-US" altLang="zh-CN" dirty="0" smtClean="0" sz="1200" kern="0">
                <a:latin typeface="SimHei" pitchFamily="49" charset="0"/>
                <a:ea typeface="SimHei" pitchFamily="49" charset="0"/>
                <a:cs typeface="SimHei" pitchFamily="49" charset="0"/>
              </a:rPr>
            </a:b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源：[权威机构]）</a:t>
            </a:r>
            <a:r>
              <a:rPr baseline="0" lang="en-US" altLang="zh-CN" sz="1200" kern="0" spc="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</a:p>
        </p:txBody>
      </p:sp>
    </p:spTree>
    <p:extLst>
      <p:ext uri="{6D257729-3959-489E-D0B4-6C81ED7762EE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8"/>
          <p:cNvSpPr txBox="1"/>
          <p:nvPr/>
        </p:nvSpPr>
        <p:spPr>
          <a:xfrm>
            <a:off x="355600" y="349885"/>
            <a:ext cx="1143000" cy="330200"/>
          </a:xfrm>
          <a:prstGeom prst="rect">
            <a:avLst/>
          </a:prstGeom>
          <a:noFill/>
        </p:spPr>
        <p:txBody>
          <a:bodyPr wrap="square" lIns="0" rIns="0" bIns="0" tIns="38100" rtlCol="0">
            <a:spAutoFit/>
          </a:bodyPr>
          <a:lstStyle/>
          <a:p>
            <a:pPr marL="0" marR="0" indent="0" eaLnBrk="0">
              <a:lnSpc>
                <a:spcPct val="116666"/>
              </a:lnSpc>
              <a:spcBef>
                <a:spcPts val="300"/>
              </a:spcBef>
              <a:spcAft>
                <a:spcPts val="159"/>
              </a:spcAft>
            </a:pPr>
            <a:r>
              <a:rPr lang="en-US" altLang="zh-CN" sz="1500" kern="0" spc="-15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⽬</a:t>
            </a:r>
            <a:r>
              <a:rPr lang="en-US" altLang="zh-CN" sz="15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标</a:t>
            </a:r>
            <a:r>
              <a:rPr lang="en-US" altLang="zh-CN" sz="15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⽤⼾</a:t>
            </a:r>
            <a:r>
              <a:rPr lang="en-US" altLang="zh-CN" sz="15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画像</a:t>
            </a:r>
          </a:p>
        </p:txBody>
      </p:sp>
      <p:sp>
        <p:nvSpPr>
          <p:cNvPr id="9" name="TextBox9"/>
          <p:cNvSpPr txBox="1"/>
          <p:nvPr/>
        </p:nvSpPr>
        <p:spPr>
          <a:xfrm>
            <a:off x="382905" y="701675"/>
            <a:ext cx="4773612" cy="60483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201295" marR="0" indent="-201216" eaLnBrk="0" lvl="0">
              <a:lnSpc>
                <a:spcPct val="100694"/>
              </a:lnSpc>
              <a:spcBef>
                <a:spcPts val="500"/>
              </a:spcBef>
              <a:spcAft>
                <a:spcPts val="1114"/>
              </a:spcAft>
              <a:buClr>
                <a:srgbClr val="1456F0"/>
              </a:buClr>
              <a:buSzPct val="92000"/>
              <a:buFont typeface="Arial" panose="34" charset="0"/>
              <a:buChar char="•"/>
            </a:pP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群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体特征：3-5年经营年限的线下零售商家、电商创业者等</a:t>
            </a:r>
          </a:p>
          <a:p>
            <a:pPr marL="201295" marR="0" indent="-201216" eaLnBrk="0" lvl="0">
              <a:lnSpc>
                <a:spcPct val="118750"/>
              </a:lnSpc>
              <a:buClr>
                <a:srgbClr val="1456F0"/>
              </a:buClr>
              <a:buSzPct val="92000"/>
              <a:buFont typeface="Arial" panose="34" charset="0"/>
              <a:buChar char="•"/>
            </a:pP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需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求特点：注重成本控制、渴望提升客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⼾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复购率、缺乏专业营销团队</a:t>
            </a:r>
          </a:p>
        </p:txBody>
      </p:sp>
      <p:sp>
        <p:nvSpPr>
          <p:cNvPr id="10" name="TextBox10"/>
          <p:cNvSpPr txBox="1"/>
          <p:nvPr/>
        </p:nvSpPr>
        <p:spPr>
          <a:xfrm>
            <a:off x="355600" y="1489075"/>
            <a:ext cx="762000" cy="233362"/>
          </a:xfrm>
          <a:prstGeom prst="rect">
            <a:avLst/>
          </a:prstGeom>
          <a:noFill/>
        </p:spPr>
        <p:txBody>
          <a:bodyPr wrap="square" lIns="0" rIns="0" bIns="0" tIns="3810" rtlCol="0">
            <a:spAutoFit/>
          </a:bodyPr>
          <a:lstStyle/>
          <a:p>
            <a:pPr marL="0" marR="0" indent="0" eaLnBrk="0">
              <a:lnSpc>
                <a:spcPct val="101944"/>
              </a:lnSpc>
              <a:spcBef>
                <a:spcPts val="29"/>
              </a:spcBef>
              <a:spcAft>
                <a:spcPts val="5"/>
              </a:spcAft>
            </a:pPr>
            <a:r>
              <a:rPr lang="en-US" altLang="zh-CN" sz="15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竞</a:t>
            </a:r>
            <a:r>
              <a:rPr lang="en-US" altLang="zh-CN" sz="15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争格局</a:t>
            </a:r>
          </a:p>
        </p:txBody>
      </p:sp>
      <p:graphicFrame>
        <p:nvGraphicFramePr>
          <p:cNvPr id="11" name="Table11"/>
          <p:cNvGraphicFramePr>
            <a:graphicFrameLocks noGrp="1"/>
          </p:cNvGraphicFramePr>
          <p:nvPr/>
        </p:nvGraphicFramePr>
        <p:xfrm>
          <a:off x="355600" y="2012315"/>
          <a:ext cx="6838950" cy="1371600"/>
        </p:xfrm>
        <a:graphic>
          <a:graphicData uri="http://schemas.openxmlformats.org/drawingml/2006/table">
            <a:tbl>
              <a:tblPr firstRow="1" bandRow="1">
                <a:tableStyleId>{E8F4964D-3F0B-4166-F5FD-D809A679F62E}</a:tableStyleId>
              </a:tblPr>
              <a:tblGrid>
                <a:gridCol w="1896110"/>
                <a:gridCol w="1905000"/>
                <a:gridCol w="1904365"/>
                <a:gridCol w="1129030"/>
              </a:tblGrid>
              <a:tr h="386080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0" indent="0" eaLnBrk="0">
                        <a:lnSpc>
                          <a:spcPct val="121031"/>
                        </a:lnSpc>
                        <a:spcAft>
                          <a:spcPts val="525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竞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争对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Meiryo" pitchFamily="34" charset="0"/>
                          <a:ea typeface="Meiryo" pitchFamily="34" charset="0"/>
                          <a:cs typeface="Meiryo" pitchFamily="34" charset="0"/>
                        </a:rPr>
                        <a:t>⼿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类型</a:t>
                      </a:r>
                    </a:p>
                  </a:txBody>
                  <a:tcPr marL="4763" marR="4763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0" indent="0" eaLnBrk="0">
                        <a:lnSpc>
                          <a:spcPct val="97222"/>
                        </a:lnSpc>
                        <a:spcAft>
                          <a:spcPts val="764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优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势</a:t>
                      </a:r>
                    </a:p>
                  </a:txBody>
                  <a:tcPr marL="4763" marR="4763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0" indent="0" eaLnBrk="0">
                        <a:lnSpc>
                          <a:spcPct val="97222"/>
                        </a:lnSpc>
                        <a:spcAft>
                          <a:spcPts val="764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劣势</a:t>
                      </a:r>
                    </a:p>
                  </a:txBody>
                  <a:tcPr marL="4763" marR="4763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0" indent="0" eaLnBrk="0">
                        <a:lnSpc>
                          <a:spcPct val="97222"/>
                        </a:lnSpc>
                        <a:spcAft>
                          <a:spcPts val="764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我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们的差异化</a:t>
                      </a:r>
                    </a:p>
                  </a:txBody>
                  <a:tcPr marL="4763" marR="0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0" indent="0" eaLnBrk="0">
                        <a:lnSpc>
                          <a:spcPct val="121031"/>
                        </a:lnSpc>
                        <a:spcAft>
                          <a:spcPts val="525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Meiryo" pitchFamily="34" charset="0"/>
                          <a:ea typeface="Meiryo" pitchFamily="34" charset="0"/>
                          <a:cs typeface="Meiryo" pitchFamily="34" charset="0"/>
                        </a:rPr>
                        <a:t>⼤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型综合服务平台</a:t>
                      </a:r>
                    </a:p>
                  </a:txBody>
                  <a:tcPr marL="4763" marR="4763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0" indent="0" eaLnBrk="0">
                        <a:lnSpc>
                          <a:spcPct val="121031"/>
                        </a:lnSpc>
                        <a:spcAft>
                          <a:spcPts val="525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品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牌知名度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Meiryo" pitchFamily="34" charset="0"/>
                          <a:ea typeface="Meiryo" pitchFamily="34" charset="0"/>
                          <a:cs typeface="Meiryo" pitchFamily="34" charset="0"/>
                        </a:rPr>
                        <a:t>⾼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、资源丰富</a:t>
                      </a:r>
                    </a:p>
                  </a:txBody>
                  <a:tcPr marL="4763" marR="4763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0" indent="0" eaLnBrk="0">
                        <a:lnSpc>
                          <a:spcPct val="121031"/>
                        </a:lnSpc>
                        <a:spcAft>
                          <a:spcPts val="525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针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对性弱、收费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Meiryo" pitchFamily="34" charset="0"/>
                          <a:ea typeface="Meiryo" pitchFamily="34" charset="0"/>
                          <a:cs typeface="Meiryo" pitchFamily="34" charset="0"/>
                        </a:rPr>
                        <a:t>⾼</a:t>
                      </a:r>
                    </a:p>
                  </a:txBody>
                  <a:tcPr marL="4763" marR="4763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0" indent="0" eaLnBrk="0">
                        <a:lnSpc>
                          <a:spcPct val="121031"/>
                        </a:lnSpc>
                        <a:spcAft>
                          <a:spcPts val="525"/>
                        </a:spcAft>
                      </a:pPr>
                      <a:r>
                        <a:rPr lang="en-US" altLang="zh-CN" sz="1050" kern="0" spc="-2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聚焦中</a:t>
                      </a:r>
                      <a:r>
                        <a:rPr lang="en-US" altLang="zh-CN" sz="1050" kern="0" spc="-25" baseline="0" noProof="0" dirty="0" smtClean="0">
                          <a:solidFill>
                            <a:srgbClr val="1F2329"/>
                          </a:solidFill>
                          <a:latin typeface="Meiryo" pitchFamily="34" charset="0"/>
                          <a:ea typeface="Meiryo" pitchFamily="34" charset="0"/>
                          <a:cs typeface="Meiryo" pitchFamily="34" charset="0"/>
                        </a:rPr>
                        <a:t>⼩</a:t>
                      </a:r>
                      <a:r>
                        <a:rPr lang="en-US" altLang="zh-CN" sz="1050" kern="0" spc="-2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商家</a:t>
                      </a: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，定</a:t>
                      </a:r>
                    </a:p>
                  </a:txBody>
                  <a:tcPr marL="4763" marR="0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0" indent="0" eaLnBrk="0">
                        <a:lnSpc>
                          <a:spcPct val="122619"/>
                        </a:lnSpc>
                        <a:spcAft>
                          <a:spcPts val="2245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垂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直领域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Meiryo" pitchFamily="34" charset="0"/>
                          <a:ea typeface="Meiryo" pitchFamily="34" charset="0"/>
                          <a:cs typeface="Meiryo" pitchFamily="34" charset="0"/>
                        </a:rPr>
                        <a:t>⼩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平台</a:t>
                      </a:r>
                    </a:p>
                  </a:txBody>
                  <a:tcPr marL="4763" marR="4763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0" indent="0" eaLnBrk="0">
                        <a:lnSpc>
                          <a:spcPct val="122619"/>
                        </a:lnSpc>
                        <a:spcAft>
                          <a:spcPts val="2245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细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分领域经验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Meiryo" pitchFamily="34" charset="0"/>
                          <a:ea typeface="Meiryo" pitchFamily="34" charset="0"/>
                          <a:cs typeface="Meiryo" pitchFamily="34" charset="0"/>
                        </a:rPr>
                        <a:t>⾜</a:t>
                      </a:r>
                    </a:p>
                  </a:txBody>
                  <a:tcPr marL="4763" marR="4763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0" indent="0" eaLnBrk="0">
                        <a:lnSpc>
                          <a:spcPct val="122619"/>
                        </a:lnSpc>
                        <a:spcAft>
                          <a:spcPts val="2245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服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务单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Meiryo" pitchFamily="34" charset="0"/>
                          <a:ea typeface="Meiryo" pitchFamily="34" charset="0"/>
                          <a:cs typeface="Meiryo" pitchFamily="34" charset="0"/>
                        </a:rPr>
                        <a:t>⼀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、技术能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Meiryo" pitchFamily="34" charset="0"/>
                          <a:ea typeface="Meiryo" pitchFamily="34" charset="0"/>
                          <a:cs typeface="Meiryo" pitchFamily="34" charset="0"/>
                        </a:rPr>
                        <a:t>⼒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有限</a:t>
                      </a:r>
                    </a:p>
                  </a:txBody>
                  <a:tcPr marL="4763" marR="4763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0" indent="0" eaLnBrk="0">
                        <a:lnSpc>
                          <a:spcPct val="124801"/>
                        </a:lnSpc>
                        <a:spcAft>
                          <a:spcPts val="570"/>
                        </a:spcAft>
                      </a:pPr>
                      <a:r>
                        <a:rPr lang="en-US" altLang="zh-CN" sz="1050" kern="0" spc="-25" baseline="0" noProof="0" dirty="0" smtClean="0">
                          <a:solidFill>
                            <a:srgbClr val="1F2329"/>
                          </a:solidFill>
                          <a:latin typeface="Meiryo" pitchFamily="34" charset="0"/>
                          <a:ea typeface="Meiryo" pitchFamily="34" charset="0"/>
                          <a:cs typeface="Meiryo" pitchFamily="34" charset="0"/>
                        </a:rPr>
                        <a:t>⼀</a:t>
                      </a:r>
                      <a:r>
                        <a:rPr lang="en-US" altLang="zh-CN" sz="1050" kern="0" spc="-2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站式全链路</a:t>
                      </a: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服务</a:t>
                      </a:r>
                      <a:r>
                        <a:rPr baseline="0" lang="en-US" altLang="zh-CN" sz="1050" kern="0" spc="0" noProof="0" dirty="0" smtClean="0"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 </a:t>
                      </a: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能</a:t>
                      </a:r>
                      <a:r>
                        <a:rPr baseline="0" lang="en-US" altLang="zh-CN" sz="1050" kern="0" spc="0" noProof="0" dirty="0" smtClean="0"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 </a:t>
                      </a:r>
                    </a:p>
                  </a:txBody>
                  <a:tcPr marL="4763" marR="0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Box12"/>
          <p:cNvSpPr txBox="1"/>
          <p:nvPr/>
        </p:nvSpPr>
        <p:spPr>
          <a:xfrm>
            <a:off x="355600" y="3665855"/>
            <a:ext cx="1343025" cy="762000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650" kern="0" spc="-4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产</a:t>
            </a:r>
            <a:r>
              <a:rPr lang="en-US" altLang="zh-CN" sz="1650" kern="0" spc="-2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品</a:t>
            </a:r>
            <a:r>
              <a:rPr lang="en-US" altLang="zh-CN" sz="165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/</a:t>
            </a:r>
            <a:r>
              <a:rPr lang="en-US" altLang="zh-CN" sz="1650" kern="0" spc="-2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服务介绍</a:t>
            </a:r>
          </a:p>
          <a:p>
            <a:pPr marL="0" marR="0" indent="0" eaLnBrk="0">
              <a:lnSpc>
                <a:spcPct val="1295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19722"/>
              </a:lnSpc>
              <a:spcBef>
                <a:spcPts val="204"/>
              </a:spcBef>
              <a:spcAft>
                <a:spcPts val="110"/>
              </a:spcAft>
            </a:pPr>
            <a:r>
              <a:rPr lang="en-US" altLang="zh-CN" sz="1500" kern="0" spc="-4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核</a:t>
            </a:r>
            <a:r>
              <a:rPr lang="en-US" altLang="zh-CN" sz="1500" kern="0" spc="-25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⼼</a:t>
            </a:r>
            <a:r>
              <a:rPr lang="en-US" altLang="zh-CN" sz="1500" kern="0" spc="-2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产品</a:t>
            </a:r>
            <a:r>
              <a:rPr lang="en-US" altLang="zh-CN" sz="15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/</a:t>
            </a:r>
            <a:r>
              <a:rPr lang="en-US" altLang="zh-CN" sz="1500" kern="0" spc="-2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服务</a:t>
            </a:r>
          </a:p>
        </p:txBody>
      </p:sp>
      <p:sp>
        <p:nvSpPr>
          <p:cNvPr id="13" name="TextBox13"/>
          <p:cNvSpPr txBox="1"/>
          <p:nvPr/>
        </p:nvSpPr>
        <p:spPr>
          <a:xfrm>
            <a:off x="382905" y="4454525"/>
            <a:ext cx="5383212" cy="60483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201295" marR="0" indent="-201216" eaLnBrk="0" lvl="0">
              <a:lnSpc>
                <a:spcPct val="121527"/>
              </a:lnSpc>
              <a:spcBef>
                <a:spcPts val="500"/>
              </a:spcBef>
              <a:spcAft>
                <a:spcPts val="839"/>
              </a:spcAft>
              <a:buClr>
                <a:srgbClr val="1456F0"/>
              </a:buClr>
              <a:buSzPct val="92000"/>
              <a:buFont typeface="Arial" panose="34" charset="0"/>
              <a:buChar char="•"/>
            </a:pP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智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能营销系统：客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⼾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画像分析、精准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⼴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告投放、营销活动策划，实现精准获客</a:t>
            </a:r>
          </a:p>
          <a:p>
            <a:pPr marL="201295" marR="0" indent="-201216" eaLnBrk="0" lvl="0">
              <a:lnSpc>
                <a:spcPct val="118750"/>
              </a:lnSpc>
              <a:buClr>
                <a:srgbClr val="1456F0"/>
              </a:buClr>
              <a:buSzPct val="92000"/>
              <a:buFont typeface="Arial" panose="34" charset="0"/>
              <a:buChar char="•"/>
            </a:pP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营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销咨询服务：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对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⼀⽅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案制定、落地指导、效果复盘，专业团队全程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⽀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持</a:t>
            </a:r>
          </a:p>
        </p:txBody>
      </p:sp>
      <p:sp>
        <p:nvSpPr>
          <p:cNvPr id="14" name="TextBox14"/>
          <p:cNvSpPr txBox="1"/>
          <p:nvPr/>
        </p:nvSpPr>
        <p:spPr>
          <a:xfrm>
            <a:off x="355600" y="5241925"/>
            <a:ext cx="762000" cy="233362"/>
          </a:xfrm>
          <a:prstGeom prst="rect">
            <a:avLst/>
          </a:prstGeom>
          <a:noFill/>
        </p:spPr>
        <p:txBody>
          <a:bodyPr wrap="square" lIns="0" rIns="0" bIns="0" tIns="3810" rtlCol="0">
            <a:spAutoFit/>
          </a:bodyPr>
          <a:lstStyle/>
          <a:p>
            <a:pPr marL="0" marR="0" indent="0" eaLnBrk="0">
              <a:lnSpc>
                <a:spcPct val="101944"/>
              </a:lnSpc>
              <a:spcBef>
                <a:spcPts val="30"/>
              </a:spcBef>
              <a:spcAft>
                <a:spcPts val="4"/>
              </a:spcAft>
            </a:pPr>
            <a:r>
              <a:rPr lang="en-US" altLang="zh-CN" sz="15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产</a:t>
            </a:r>
            <a:r>
              <a:rPr lang="en-US" altLang="zh-CN" sz="15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品优势</a:t>
            </a:r>
          </a:p>
        </p:txBody>
      </p:sp>
      <p:sp>
        <p:nvSpPr>
          <p:cNvPr id="15" name="TextBox15"/>
          <p:cNvSpPr txBox="1"/>
          <p:nvPr/>
        </p:nvSpPr>
        <p:spPr>
          <a:xfrm>
            <a:off x="382905" y="5559425"/>
            <a:ext cx="4076700" cy="92868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201295" marR="0" indent="-201216" eaLnBrk="0" lvl="0">
              <a:lnSpc>
                <a:spcPct val="121527"/>
              </a:lnSpc>
              <a:spcBef>
                <a:spcPts val="500"/>
              </a:spcBef>
              <a:spcAft>
                <a:spcPts val="839"/>
              </a:spcAft>
              <a:buClr>
                <a:srgbClr val="1456F0"/>
              </a:buClr>
              <a:buSzPct val="92000"/>
              <a:buFont typeface="Arial" panose="34" charset="0"/>
              <a:buChar char="•"/>
            </a:pP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技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术优势：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⾃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主研发AI算法，数据处理效率超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⾏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业平均X%</a:t>
            </a:r>
          </a:p>
          <a:p>
            <a:pPr marL="201295" marR="0" indent="-201216" eaLnBrk="0" lvl="0">
              <a:lnSpc>
                <a:spcPct val="117361"/>
              </a:lnSpc>
              <a:spcAft>
                <a:spcPts val="775"/>
              </a:spcAft>
              <a:buClr>
                <a:srgbClr val="1456F0"/>
              </a:buClr>
              <a:buSzPct val="92000"/>
              <a:buFont typeface="Arial" panose="34" charset="0"/>
              <a:buChar char="•"/>
            </a:pP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体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验优势：界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简洁易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⽤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，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⽆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需专业技术知识即可上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⼿</a:t>
            </a:r>
          </a:p>
          <a:p>
            <a:pPr marL="201295" marR="0" indent="-201216" eaLnBrk="0" lvl="0">
              <a:lnSpc>
                <a:spcPct val="122916"/>
              </a:lnSpc>
              <a:buClr>
                <a:srgbClr val="1456F0"/>
              </a:buClr>
              <a:buSzPct val="92000"/>
              <a:buFont typeface="Arial" panose="34" charset="0"/>
              <a:buChar char="•"/>
            </a:pP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成本优势：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同类产品价格降低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X%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，性价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⽐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更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⾼</a:t>
            </a:r>
          </a:p>
        </p:txBody>
      </p:sp>
      <p:sp>
        <p:nvSpPr>
          <p:cNvPr id="16" name="TextBox16"/>
          <p:cNvSpPr txBox="1"/>
          <p:nvPr/>
        </p:nvSpPr>
        <p:spPr>
          <a:xfrm>
            <a:off x="355600" y="6670675"/>
            <a:ext cx="4476750" cy="2157412"/>
          </a:xfrm>
          <a:prstGeom prst="rect">
            <a:avLst/>
          </a:prstGeom>
          <a:noFill/>
        </p:spPr>
        <p:txBody>
          <a:bodyPr wrap="square" lIns="0" rIns="0" bIns="0" tIns="3810" rtlCol="0">
            <a:spAutoFit/>
          </a:bodyPr>
          <a:lstStyle/>
          <a:p>
            <a:pPr marL="0" marR="0" indent="0" eaLnBrk="0">
              <a:lnSpc>
                <a:spcPct val="101944"/>
              </a:lnSpc>
              <a:spcBef>
                <a:spcPts val="30"/>
              </a:spcBef>
              <a:spcAft>
                <a:spcPts val="4"/>
              </a:spcAft>
            </a:pPr>
            <a:r>
              <a:rPr lang="en-US" altLang="zh-CN" sz="15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产</a:t>
            </a:r>
            <a:r>
              <a:rPr lang="en-US" altLang="zh-CN" sz="15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品迭代规划</a:t>
            </a:r>
          </a:p>
          <a:p>
            <a:pPr marL="0" marR="0" indent="0" eaLnBrk="0">
              <a:lnSpc>
                <a:spcPct val="804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28600" marR="0" indent="-209550" eaLnBrk="0" lvl="0">
              <a:lnSpc>
                <a:spcPct val="122916"/>
              </a:lnSpc>
              <a:buClr>
                <a:srgbClr val="1456F0"/>
              </a:buClr>
              <a:buAutoNum type="arabicPeriod"/>
            </a:pP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V1.0</a:t>
            </a: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（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3个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⽉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）：核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⼼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功能上线，覆盖基础营销需求</a:t>
            </a:r>
          </a:p>
          <a:p>
            <a:pPr marL="0" marR="0" indent="0" eaLnBrk="0">
              <a:lnSpc>
                <a:spcPct val="64999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28600" marR="0" indent="-209550" eaLnBrk="0" lvl="0">
              <a:lnSpc>
                <a:spcPct val="122916"/>
              </a:lnSpc>
              <a:buClr>
                <a:srgbClr val="1456F0"/>
              </a:buClr>
              <a:buAutoNum type="arabicPeriod" startAt="2"/>
            </a:pP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V2.0</a:t>
            </a: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（6个</a:t>
            </a: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⽉</a:t>
            </a: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）：增加客</a:t>
            </a: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⼾</a:t>
            </a: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管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理模块，实现营销-客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⼾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管理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体化</a:t>
            </a:r>
          </a:p>
          <a:p>
            <a:pPr marL="0" marR="0" indent="0" eaLnBrk="0">
              <a:lnSpc>
                <a:spcPct val="64999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28600" marR="0" indent="-209550" eaLnBrk="0" lvl="0">
              <a:lnSpc>
                <a:spcPct val="122916"/>
              </a:lnSpc>
              <a:buClr>
                <a:srgbClr val="1456F0"/>
              </a:buClr>
              <a:buAutoNum type="arabicPeriod" startAt="3"/>
            </a:pP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3.0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（12个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⽉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）：接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⼊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第三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⽅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平台，拓展服务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⽣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态</a:t>
            </a:r>
          </a:p>
          <a:p>
            <a:pPr marL="0" marR="0" indent="0" eaLnBrk="0">
              <a:lnSpc>
                <a:spcPct val="14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1767"/>
              </a:lnSpc>
              <a:spcBef>
                <a:spcPts val="30"/>
              </a:spcBef>
              <a:spcAft>
                <a:spcPts val="5"/>
              </a:spcAft>
            </a:pPr>
            <a:r>
              <a:rPr lang="en-US" altLang="zh-CN" sz="165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商</a:t>
            </a:r>
            <a:r>
              <a:rPr lang="en-US" altLang="zh-CN" sz="165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业模式</a:t>
            </a:r>
          </a:p>
          <a:p>
            <a:pPr marL="0" marR="0" indent="0" eaLnBrk="0">
              <a:lnSpc>
                <a:spcPct val="14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1944"/>
              </a:lnSpc>
              <a:spcBef>
                <a:spcPts val="30"/>
              </a:spcBef>
              <a:spcAft>
                <a:spcPts val="4"/>
              </a:spcAft>
            </a:pPr>
            <a:r>
              <a:rPr lang="en-US" altLang="zh-CN" sz="15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盈</a:t>
            </a:r>
            <a:r>
              <a:rPr lang="en-US" altLang="zh-CN" sz="15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利模式</a:t>
            </a:r>
          </a:p>
        </p:txBody>
      </p:sp>
      <p:sp>
        <p:nvSpPr>
          <p:cNvPr id="17" name="TextBox17"/>
          <p:cNvSpPr txBox="1"/>
          <p:nvPr/>
        </p:nvSpPr>
        <p:spPr>
          <a:xfrm>
            <a:off x="382905" y="8912226"/>
            <a:ext cx="4897437" cy="92868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201295" marR="0" indent="-201216" eaLnBrk="0" lvl="0">
              <a:lnSpc>
                <a:spcPct val="121527"/>
              </a:lnSpc>
              <a:spcBef>
                <a:spcPts val="500"/>
              </a:spcBef>
              <a:spcAft>
                <a:spcPts val="840"/>
              </a:spcAft>
              <a:buClr>
                <a:srgbClr val="1456F0"/>
              </a:buClr>
              <a:buSzPct val="92000"/>
              <a:buFont typeface="Arial" panose="34" charset="0"/>
              <a:buChar char="•"/>
            </a:pP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订阅收费：基础版（X元/</a:t>
            </a: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⽉</a:t>
            </a: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）、进阶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版（X元/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⽉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）、旗舰版（X元/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⽉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）</a:t>
            </a:r>
          </a:p>
          <a:p>
            <a:pPr marL="201295" marR="0" indent="-201216" eaLnBrk="0" lvl="0">
              <a:lnSpc>
                <a:spcPct val="121527"/>
              </a:lnSpc>
              <a:spcAft>
                <a:spcPts val="835"/>
              </a:spcAft>
              <a:buClr>
                <a:srgbClr val="1456F0"/>
              </a:buClr>
              <a:buSzPct val="92000"/>
              <a:buFont typeface="Arial" panose="34" charset="0"/>
              <a:buChar char="•"/>
            </a:pP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增值服务：定制化</a:t>
            </a: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⽅</a:t>
            </a: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案（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X元/次起）、数据报告解读（X元/份）</a:t>
            </a:r>
          </a:p>
          <a:p>
            <a:pPr marL="201295" marR="0" indent="-201216" eaLnBrk="0" lvl="0">
              <a:lnSpc>
                <a:spcPct val="118750"/>
              </a:lnSpc>
              <a:buClr>
                <a:srgbClr val="1456F0"/>
              </a:buClr>
              <a:buSzPct val="92000"/>
              <a:buFont typeface="Arial" panose="34" charset="0"/>
              <a:buChar char="•"/>
            </a:pP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佣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⾦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分成：与第三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⽅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平台合作，获取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⽐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例分成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355600" y="9989184"/>
            <a:ext cx="1143000" cy="330200"/>
          </a:xfrm>
          <a:prstGeom prst="rect">
            <a:avLst/>
          </a:prstGeom>
          <a:noFill/>
        </p:spPr>
        <p:txBody>
          <a:bodyPr wrap="square" lIns="0" rIns="0" bIns="0" tIns="38100" rtlCol="0">
            <a:spAutoFit/>
          </a:bodyPr>
          <a:lstStyle/>
          <a:p>
            <a:pPr marL="0" marR="0" indent="0" eaLnBrk="0">
              <a:lnSpc>
                <a:spcPct val="116666"/>
              </a:lnSpc>
              <a:spcBef>
                <a:spcPts val="300"/>
              </a:spcBef>
              <a:spcAft>
                <a:spcPts val="160"/>
              </a:spcAft>
            </a:pPr>
            <a:r>
              <a:rPr lang="en-US" altLang="zh-CN" sz="15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客</a:t>
            </a:r>
            <a:r>
              <a:rPr lang="en-US" altLang="zh-CN" sz="15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⼾</a:t>
            </a:r>
            <a:r>
              <a:rPr lang="en-US" altLang="zh-CN" sz="15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获取渠道</a:t>
            </a:r>
          </a:p>
        </p:txBody>
      </p:sp>
    </p:spTree>
    <p:extLst>
      <p:ext uri="{2FB2E383-6A37-4881-7678-19B32B018483}"/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19"/>
          <p:cNvSpPr txBox="1"/>
          <p:nvPr/>
        </p:nvSpPr>
        <p:spPr>
          <a:xfrm>
            <a:off x="355600" y="396875"/>
            <a:ext cx="4371975" cy="223996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9166"/>
              </a:lnSpc>
            </a:pP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线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上：电商平台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⼊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驻、社交媒体（微信/抖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⾳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⼩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红书）、SEO优化</a:t>
            </a:r>
            <a:r>
              <a:rPr baseline="0" lang="en-US" altLang="zh-CN" sz="1200" kern="0" spc="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线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下：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⾏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业展会、地推拓展、商会/协会合作</a:t>
            </a:r>
            <a:r>
              <a:rPr baseline="0" lang="en-US" altLang="zh-CN" sz="1200" kern="0" spc="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</a:p>
          <a:p>
            <a:pPr marL="0" marR="0" indent="0" eaLnBrk="0">
              <a:lnSpc>
                <a:spcPct val="1091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18333"/>
              </a:lnSpc>
              <a:spcBef>
                <a:spcPts val="300"/>
              </a:spcBef>
              <a:spcAft>
                <a:spcPts val="690"/>
              </a:spcAft>
            </a:pPr>
            <a:r>
              <a:rPr lang="en-US" altLang="zh-CN" sz="15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客</a:t>
            </a:r>
            <a:r>
              <a:rPr lang="en-US" altLang="zh-CN" sz="15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⼾</a:t>
            </a:r>
            <a:r>
              <a:rPr lang="en-US" altLang="zh-CN" sz="15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留存策略</a:t>
            </a:r>
          </a:p>
          <a:p>
            <a:pPr marL="0" marR="0" indent="0" eaLnBrk="0">
              <a:lnSpc>
                <a:spcPct val="99652"/>
              </a:lnSpc>
            </a:pP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定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期回访+会员积分体系（积分兑增值服务）+商家培训课程</a:t>
            </a:r>
          </a:p>
          <a:p>
            <a:pPr marL="0" marR="0" indent="0" eaLnBrk="0">
              <a:lnSpc>
                <a:spcPct val="1679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1767"/>
              </a:lnSpc>
              <a:spcBef>
                <a:spcPts val="29"/>
              </a:spcBef>
              <a:spcAft>
                <a:spcPts val="4"/>
              </a:spcAft>
            </a:pPr>
            <a:r>
              <a:rPr lang="en-US" altLang="zh-CN" sz="165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运</a:t>
            </a:r>
            <a:r>
              <a:rPr lang="en-US" altLang="zh-CN" sz="165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营计划</a:t>
            </a:r>
          </a:p>
          <a:p>
            <a:pPr marL="0" marR="0" indent="0" eaLnBrk="0">
              <a:lnSpc>
                <a:spcPct val="1291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19722"/>
              </a:lnSpc>
              <a:spcBef>
                <a:spcPts val="204"/>
              </a:spcBef>
              <a:spcAft>
                <a:spcPts val="109"/>
              </a:spcAft>
            </a:pPr>
            <a:r>
              <a:rPr lang="en-US" altLang="zh-CN" sz="15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短</a:t>
            </a:r>
            <a:r>
              <a:rPr lang="en-US" altLang="zh-CN" sz="15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期</a:t>
            </a:r>
            <a:r>
              <a:rPr lang="en-US" altLang="zh-CN" sz="15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⽬</a:t>
            </a:r>
            <a:r>
              <a:rPr lang="en-US" altLang="zh-CN" sz="15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标（1年）</a:t>
            </a:r>
          </a:p>
        </p:txBody>
      </p:sp>
      <p:sp>
        <p:nvSpPr>
          <p:cNvPr id="20" name="TextBox20"/>
          <p:cNvSpPr txBox="1"/>
          <p:nvPr/>
        </p:nvSpPr>
        <p:spPr>
          <a:xfrm>
            <a:off x="382905" y="2663825"/>
            <a:ext cx="1744662" cy="60483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201295" marR="0" indent="-201216" eaLnBrk="0" lvl="0">
              <a:lnSpc>
                <a:spcPct val="96527"/>
              </a:lnSpc>
              <a:spcBef>
                <a:spcPts val="500"/>
              </a:spcBef>
              <a:spcAft>
                <a:spcPts val="1054"/>
              </a:spcAft>
              <a:buClr>
                <a:srgbClr val="1456F0"/>
              </a:buClr>
              <a:buSzPct val="92000"/>
              <a:buFont typeface="Arial" panose="34" charset="0"/>
              <a:buChar char="•"/>
            </a:pP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完成V1.0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+V2.0迭代</a:t>
            </a:r>
          </a:p>
          <a:p>
            <a:pPr marL="201295" marR="0" indent="-201216" eaLnBrk="0" lvl="0">
              <a:lnSpc>
                <a:spcPct val="122916"/>
              </a:lnSpc>
              <a:buClr>
                <a:srgbClr val="1456F0"/>
              </a:buClr>
              <a:buSzPct val="92000"/>
              <a:buFont typeface="Arial" panose="34" charset="0"/>
              <a:buChar char="•"/>
            </a:pP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积累客</a:t>
            </a: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⼾</a:t>
            </a: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X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家，覆盖X城</a:t>
            </a:r>
          </a:p>
        </p:txBody>
      </p:sp>
      <p:sp>
        <p:nvSpPr>
          <p:cNvPr id="21" name="TextBox21"/>
          <p:cNvSpPr txBox="1"/>
          <p:nvPr/>
        </p:nvSpPr>
        <p:spPr>
          <a:xfrm>
            <a:off x="355600" y="3311525"/>
            <a:ext cx="1895475" cy="106203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27305" marR="0" indent="0" eaLnBrk="0">
              <a:lnSpc>
                <a:spcPct val="111616"/>
              </a:lnSpc>
            </a:pPr>
            <a:r>
              <a:rPr lang="en-US" altLang="zh-CN" sz="1650" kern="0" spc="0" baseline="0" noProof="0" dirty="0" smtClean="0">
                <a:solidFill>
                  <a:srgbClr val="1456F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</a:t>
            </a:r>
            <a:r>
              <a:rPr baseline="0" lang="en-US" altLang="zh-CN" sz="1650" kern="0" spc="5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⽉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均营收X万元</a:t>
            </a:r>
          </a:p>
          <a:p>
            <a:pPr marL="0" marR="0" indent="0" eaLnBrk="0">
              <a:lnSpc>
                <a:spcPct val="1054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20833"/>
              </a:lnSpc>
              <a:spcBef>
                <a:spcPts val="204"/>
              </a:spcBef>
              <a:spcAft>
                <a:spcPts val="329"/>
              </a:spcAft>
            </a:pPr>
            <a:r>
              <a:rPr lang="en-US" altLang="zh-CN" sz="15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中期</a:t>
            </a:r>
            <a:r>
              <a:rPr lang="en-US" altLang="zh-CN" sz="1500" kern="0" spc="-15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⽬</a:t>
            </a:r>
            <a:r>
              <a:rPr lang="en-US" altLang="zh-CN" sz="15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标（1-</a:t>
            </a:r>
            <a:r>
              <a:rPr lang="en-US" altLang="zh-CN" sz="15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3年）</a:t>
            </a:r>
          </a:p>
          <a:p>
            <a:pPr marL="27305" marR="0" indent="0" eaLnBrk="0">
              <a:lnSpc>
                <a:spcPct val="111616"/>
              </a:lnSpc>
            </a:pPr>
            <a:r>
              <a:rPr lang="en-US" altLang="zh-CN" sz="1650" kern="0" spc="0" baseline="0" noProof="0" dirty="0" smtClean="0">
                <a:solidFill>
                  <a:srgbClr val="1456F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</a:t>
            </a:r>
            <a:r>
              <a:rPr baseline="0" lang="en-US" altLang="zh-CN" sz="1650" kern="0" spc="5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完成V3.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0，构建服务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⽣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态</a:t>
            </a:r>
          </a:p>
        </p:txBody>
      </p:sp>
      <p:sp>
        <p:nvSpPr>
          <p:cNvPr id="22" name="TextBox22"/>
          <p:cNvSpPr txBox="1"/>
          <p:nvPr/>
        </p:nvSpPr>
        <p:spPr>
          <a:xfrm>
            <a:off x="382905" y="4416425"/>
            <a:ext cx="1744662" cy="57626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201295" marR="0" indent="-201216" eaLnBrk="0" lvl="0">
              <a:lnSpc>
                <a:spcPct val="121527"/>
              </a:lnSpc>
              <a:spcBef>
                <a:spcPts val="500"/>
              </a:spcBef>
              <a:spcAft>
                <a:spcPts val="839"/>
              </a:spcAft>
              <a:buClr>
                <a:srgbClr val="1456F0"/>
              </a:buClr>
              <a:buSzPct val="92000"/>
              <a:buFont typeface="Arial" panose="34" charset="0"/>
              <a:buChar char="•"/>
            </a:pP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客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⼾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破X家，覆盖X省</a:t>
            </a:r>
          </a:p>
          <a:p>
            <a:pPr marL="201295" marR="0" indent="-201216" eaLnBrk="0" lvl="0">
              <a:lnSpc>
                <a:spcPct val="102777"/>
              </a:lnSpc>
              <a:spcAft>
                <a:spcPts val="39"/>
              </a:spcAft>
              <a:buClr>
                <a:srgbClr val="1456F0"/>
              </a:buClr>
              <a:buSzPct val="92000"/>
              <a:buFont typeface="Arial" panose="34" charset="0"/>
              <a:buChar char="•"/>
            </a:pPr>
            <a:r>
              <a:rPr lang="en-US" altLang="zh-CN" sz="1800" kern="0" spc="-25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年</a:t>
            </a:r>
            <a:r>
              <a:rPr lang="en-US" altLang="zh-CN" sz="1800" kern="0" spc="0" baseline="8333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营收X千万，盈利X万</a:t>
            </a:r>
          </a:p>
        </p:txBody>
      </p:sp>
      <p:sp>
        <p:nvSpPr>
          <p:cNvPr id="23" name="TextBox23"/>
          <p:cNvSpPr txBox="1"/>
          <p:nvPr/>
        </p:nvSpPr>
        <p:spPr>
          <a:xfrm>
            <a:off x="355600" y="5169535"/>
            <a:ext cx="1524000" cy="330200"/>
          </a:xfrm>
          <a:prstGeom prst="rect">
            <a:avLst/>
          </a:prstGeom>
          <a:noFill/>
        </p:spPr>
        <p:txBody>
          <a:bodyPr wrap="square" lIns="0" rIns="0" bIns="0" tIns="38100" rtlCol="0">
            <a:spAutoFit/>
          </a:bodyPr>
          <a:lstStyle/>
          <a:p>
            <a:pPr marL="0" marR="0" indent="0" eaLnBrk="0">
              <a:lnSpc>
                <a:spcPct val="116666"/>
              </a:lnSpc>
              <a:spcBef>
                <a:spcPts val="300"/>
              </a:spcBef>
              <a:spcAft>
                <a:spcPts val="160"/>
              </a:spcAft>
            </a:pPr>
            <a:r>
              <a:rPr lang="en-US" altLang="zh-CN" sz="15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团</a:t>
            </a:r>
            <a:r>
              <a:rPr lang="en-US" altLang="zh-CN" sz="15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队分</a:t>
            </a:r>
            <a:r>
              <a:rPr lang="en-US" altLang="zh-CN" sz="15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⼯</a:t>
            </a:r>
            <a:r>
              <a:rPr lang="en-US" altLang="zh-CN" sz="15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（初期）</a:t>
            </a:r>
          </a:p>
        </p:txBody>
      </p:sp>
      <p:graphicFrame>
        <p:nvGraphicFramePr>
          <p:cNvPr id="24" name="Table24"/>
          <p:cNvGraphicFramePr>
            <a:graphicFrameLocks noGrp="1"/>
          </p:cNvGraphicFramePr>
          <p:nvPr/>
        </p:nvGraphicFramePr>
        <p:xfrm>
          <a:off x="355600" y="5727065"/>
          <a:ext cx="5716587" cy="2190750"/>
        </p:xfrm>
        <a:graphic>
          <a:graphicData uri="http://schemas.openxmlformats.org/drawingml/2006/table">
            <a:tbl>
              <a:tblPr firstRow="1" bandRow="1">
                <a:tableStyleId>{E8B89653-9253-45C5-1341-711019B1B9E1}</a:tableStyleId>
              </a:tblPr>
              <a:tblGrid>
                <a:gridCol w="1896110"/>
                <a:gridCol w="1905000"/>
                <a:gridCol w="1905000"/>
              </a:tblGrid>
              <a:tr h="386080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0" indent="0" eaLnBrk="0">
                        <a:lnSpc>
                          <a:spcPct val="121031"/>
                        </a:lnSpc>
                        <a:spcAft>
                          <a:spcPts val="525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部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Meiryo" pitchFamily="34" charset="0"/>
                          <a:ea typeface="Meiryo" pitchFamily="34" charset="0"/>
                          <a:cs typeface="Meiryo" pitchFamily="34" charset="0"/>
                        </a:rPr>
                        <a:t>⻔</a:t>
                      </a:r>
                    </a:p>
                  </a:txBody>
                  <a:tcPr marL="4763" marR="4763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0" indent="0" eaLnBrk="0">
                        <a:lnSpc>
                          <a:spcPct val="121031"/>
                        </a:lnSpc>
                        <a:spcAft>
                          <a:spcPts val="525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核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Meiryo" pitchFamily="34" charset="0"/>
                          <a:ea typeface="Meiryo" pitchFamily="34" charset="0"/>
                          <a:cs typeface="Meiryo" pitchFamily="34" charset="0"/>
                        </a:rPr>
                        <a:t>⼼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职责</a:t>
                      </a:r>
                    </a:p>
                  </a:txBody>
                  <a:tcPr marL="4763" marR="4763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0" indent="0" eaLnBrk="0">
                        <a:lnSpc>
                          <a:spcPct val="121031"/>
                        </a:lnSpc>
                        <a:spcAft>
                          <a:spcPts val="525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Meiryo" pitchFamily="34" charset="0"/>
                          <a:ea typeface="Meiryo" pitchFamily="34" charset="0"/>
                          <a:cs typeface="Meiryo" pitchFamily="34" charset="0"/>
                        </a:rPr>
                        <a:t>⼈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员配置</a:t>
                      </a:r>
                    </a:p>
                  </a:txBody>
                  <a:tcPr marL="4763" marR="4763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0" indent="0" eaLnBrk="0">
                        <a:lnSpc>
                          <a:spcPct val="99206"/>
                        </a:lnSpc>
                        <a:spcAft>
                          <a:spcPts val="2489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技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术部</a:t>
                      </a:r>
                    </a:p>
                  </a:txBody>
                  <a:tcPr marL="4763" marR="4763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85725" indent="0" eaLnBrk="0">
                        <a:lnSpc>
                          <a:spcPct val="125000"/>
                        </a:lnSpc>
                        <a:spcAft>
                          <a:spcPts val="575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产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品研发、系统维护、技术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Meiryo" pitchFamily="34" charset="0"/>
                          <a:ea typeface="Meiryo" pitchFamily="34" charset="0"/>
                          <a:cs typeface="Meiryo" pitchFamily="34" charset="0"/>
                        </a:rPr>
                        <a:t>⽀</a:t>
                      </a:r>
                      <a:r>
                        <a:rPr baseline="0" lang="en-US" altLang="zh-CN" sz="1050" kern="0" spc="0" noProof="0" dirty="0" smtClean="0">
                          <a:latin typeface="Meiryo" pitchFamily="34" charset="0"/>
                          <a:ea typeface="Meiryo" pitchFamily="34" charset="0"/>
                          <a:cs typeface="Meiryo" pitchFamily="34" charset="0"/>
                        </a:rPr>
                        <a:t> </a:t>
                      </a: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持</a:t>
                      </a:r>
                      <a:r>
                        <a:rPr baseline="0" lang="en-US" altLang="zh-CN" sz="1050" kern="0" spc="0" noProof="0" dirty="0" smtClean="0"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 </a:t>
                      </a:r>
                    </a:p>
                  </a:txBody>
                  <a:tcPr marL="4763" marR="4763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08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0" indent="0" eaLnBrk="0">
                        <a:lnSpc>
                          <a:spcPct val="119047"/>
                        </a:lnSpc>
                        <a:spcAft>
                          <a:spcPts val="2250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3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-5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Meiryo" pitchFamily="34" charset="0"/>
                          <a:ea typeface="Meiryo" pitchFamily="34" charset="0"/>
                          <a:cs typeface="Meiryo" pitchFamily="34" charset="0"/>
                        </a:rPr>
                        <a:t>⼈</a:t>
                      </a:r>
                    </a:p>
                  </a:txBody>
                  <a:tcPr marL="4763" marR="4763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0" indent="0" eaLnBrk="0">
                        <a:lnSpc>
                          <a:spcPct val="99206"/>
                        </a:lnSpc>
                        <a:spcAft>
                          <a:spcPts val="2489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市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场部</a:t>
                      </a:r>
                    </a:p>
                  </a:txBody>
                  <a:tcPr marL="4763" marR="4763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85725" indent="0" eaLnBrk="0">
                        <a:lnSpc>
                          <a:spcPct val="125000"/>
                        </a:lnSpc>
                        <a:spcAft>
                          <a:spcPts val="575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客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Meiryo" pitchFamily="34" charset="0"/>
                          <a:ea typeface="Meiryo" pitchFamily="34" charset="0"/>
                          <a:cs typeface="Meiryo" pitchFamily="34" charset="0"/>
                        </a:rPr>
                        <a:t>⼾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获取、品牌推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Meiryo" pitchFamily="34" charset="0"/>
                          <a:ea typeface="Meiryo" pitchFamily="34" charset="0"/>
                          <a:cs typeface="Meiryo" pitchFamily="34" charset="0"/>
                        </a:rPr>
                        <a:t>⼴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、活动策</a:t>
                      </a:r>
                      <a:r>
                        <a:rPr baseline="0" lang="en-US" altLang="zh-CN" sz="1050" kern="0" spc="0" noProof="0" dirty="0" smtClean="0"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 </a:t>
                      </a: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划</a:t>
                      </a:r>
                      <a:r>
                        <a:rPr baseline="0" lang="en-US" altLang="zh-CN" sz="1050" kern="0" spc="0" noProof="0" dirty="0" smtClean="0"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 </a:t>
                      </a:r>
                    </a:p>
                  </a:txBody>
                  <a:tcPr marL="4763" marR="4763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08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0" indent="0" eaLnBrk="0">
                        <a:lnSpc>
                          <a:spcPct val="119047"/>
                        </a:lnSpc>
                        <a:spcAft>
                          <a:spcPts val="2250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2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-3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Meiryo" pitchFamily="34" charset="0"/>
                          <a:ea typeface="Meiryo" pitchFamily="34" charset="0"/>
                          <a:cs typeface="Meiryo" pitchFamily="34" charset="0"/>
                        </a:rPr>
                        <a:t>⼈</a:t>
                      </a:r>
                    </a:p>
                  </a:txBody>
                  <a:tcPr marL="4763" marR="4763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0" indent="0" eaLnBrk="0">
                        <a:lnSpc>
                          <a:spcPct val="98809"/>
                        </a:lnSpc>
                        <a:spcAft>
                          <a:spcPts val="2485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运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营部</a:t>
                      </a:r>
                    </a:p>
                  </a:txBody>
                  <a:tcPr marL="4763" marR="4763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5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85725" indent="0" eaLnBrk="0">
                        <a:lnSpc>
                          <a:spcPct val="124801"/>
                        </a:lnSpc>
                        <a:spcAft>
                          <a:spcPts val="569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客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Meiryo" pitchFamily="34" charset="0"/>
                          <a:ea typeface="Meiryo" pitchFamily="34" charset="0"/>
                          <a:cs typeface="Meiryo" pitchFamily="34" charset="0"/>
                        </a:rPr>
                        <a:t>⼾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维护、服务落地、数据分</a:t>
                      </a:r>
                      <a:r>
                        <a:rPr baseline="0" lang="en-US" altLang="zh-CN" sz="1050" kern="0" spc="0" noProof="0" dirty="0" smtClean="0"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 </a:t>
                      </a: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析</a:t>
                      </a:r>
                      <a:r>
                        <a:rPr baseline="0" lang="en-US" altLang="zh-CN" sz="1050" kern="0" spc="0" noProof="0" dirty="0" smtClean="0">
                          <a:latin typeface="SimHei" pitchFamily="49" charset="0"/>
                          <a:ea typeface="SimHei" pitchFamily="49" charset="0"/>
                          <a:cs typeface="SimHei" pitchFamily="49" charset="0"/>
                        </a:rPr>
                        <a:t> </a:t>
                      </a:r>
                    </a:p>
                  </a:txBody>
                  <a:tcPr marL="4763" marR="4763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7083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76200" marR="0" indent="0" eaLnBrk="0">
                        <a:lnSpc>
                          <a:spcPct val="126587"/>
                        </a:lnSpc>
                        <a:spcAft>
                          <a:spcPts val="2244"/>
                        </a:spcAft>
                      </a:pPr>
                      <a:r>
                        <a:rPr lang="en-US" altLang="zh-CN" sz="1050" kern="0" spc="-15" baseline="0" noProof="0" dirty="0" smtClean="0">
                          <a:solidFill>
                            <a:srgbClr val="1F2329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2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-3</a:t>
                      </a:r>
                      <a:r>
                        <a:rPr lang="en-US" altLang="zh-CN" sz="1050" kern="0" spc="0" baseline="0" noProof="0" dirty="0" smtClean="0">
                          <a:solidFill>
                            <a:srgbClr val="1F2329"/>
                          </a:solidFill>
                          <a:latin typeface="Meiryo" pitchFamily="34" charset="0"/>
                          <a:ea typeface="Meiryo" pitchFamily="34" charset="0"/>
                          <a:cs typeface="Meiryo" pitchFamily="34" charset="0"/>
                        </a:rPr>
                        <a:t>⼈</a:t>
                      </a:r>
                    </a:p>
                  </a:txBody>
                  <a:tcPr marL="4763" marR="4763" marT="4763" marB="476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TextBox25"/>
          <p:cNvSpPr txBox="1"/>
          <p:nvPr/>
        </p:nvSpPr>
        <p:spPr>
          <a:xfrm>
            <a:off x="355600" y="8195945"/>
            <a:ext cx="1905000" cy="1706562"/>
          </a:xfrm>
          <a:prstGeom prst="rect">
            <a:avLst/>
          </a:prstGeom>
          <a:noFill/>
        </p:spPr>
        <p:txBody>
          <a:bodyPr wrap="square" lIns="0" rIns="0" bIns="0" tIns="3810" rtlCol="0">
            <a:spAutoFit/>
          </a:bodyPr>
          <a:lstStyle/>
          <a:p>
            <a:pPr marL="0" marR="0" indent="0" eaLnBrk="0">
              <a:lnSpc>
                <a:spcPct val="101010"/>
              </a:lnSpc>
              <a:spcBef>
                <a:spcPts val="30"/>
              </a:spcBef>
              <a:spcAft>
                <a:spcPts val="989"/>
              </a:spcAft>
            </a:pPr>
            <a:r>
              <a:rPr lang="en-US" altLang="zh-CN" sz="165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团</a:t>
            </a:r>
            <a:r>
              <a:rPr lang="en-US" altLang="zh-CN" sz="165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队介绍</a:t>
            </a:r>
          </a:p>
          <a:p>
            <a:pPr marL="0" marR="0" indent="0" eaLnBrk="0">
              <a:lnSpc>
                <a:spcPct val="141666"/>
              </a:lnSpc>
            </a:pPr>
            <a:r>
              <a:rPr lang="en-US" altLang="zh-CN" sz="1200" kern="0" spc="1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CEO：[姓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名]</a:t>
            </a:r>
            <a:r>
              <a:rPr baseline="0" lang="en-US" altLang="zh-CN" sz="1200" kern="0" spc="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br>
              <a:rPr lang="en-US" altLang="zh-CN" dirty="0" smtClean="0" sz="1200" kern="0">
                <a:latin typeface="SimHei" pitchFamily="49" charset="0"/>
                <a:ea typeface="SimHei" pitchFamily="49" charset="0"/>
                <a:cs typeface="SimHei" pitchFamily="49" charset="0"/>
              </a:rPr>
            </a:b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X年互联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⽹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创业经验</a:t>
            </a:r>
            <a:r>
              <a:rPr baseline="0" lang="en-US" altLang="zh-CN" sz="1200" kern="0" spc="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br>
              <a:rPr lang="en-US" altLang="zh-CN" dirty="0" smtClean="0" sz="1200" kern="0">
                <a:latin typeface="SimHei" pitchFamily="49" charset="0"/>
                <a:ea typeface="SimHei" pitchFamily="49" charset="0"/>
                <a:cs typeface="SimHei" pitchFamily="49" charset="0"/>
              </a:rPr>
            </a:br>
            <a:r>
              <a:rPr lang="en-US" altLang="zh-CN" sz="1200" kern="0" spc="-4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曾任职</a:t>
            </a: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[</a:t>
            </a:r>
            <a:r>
              <a:rPr lang="en-US" altLang="zh-CN" sz="1200" kern="0" spc="-2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知名企业</a:t>
            </a: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]</a:t>
            </a:r>
            <a:r>
              <a:rPr lang="en-US" altLang="zh-CN" sz="1200" kern="0" spc="-2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营销板块</a:t>
            </a:r>
            <a:r>
              <a:rPr baseline="0" lang="en-US" altLang="zh-CN" sz="1200" kern="0" spc="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带领团队实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现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⽤⼾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0-X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万突破</a:t>
            </a:r>
            <a:r>
              <a:rPr baseline="0" lang="en-US" altLang="zh-CN" sz="1200" kern="0" spc="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</a:p>
          <a:p>
            <a:pPr marL="0" marR="0" indent="0" eaLnBrk="0">
              <a:lnSpc>
                <a:spcPct val="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99652"/>
              </a:lnSpc>
            </a:pP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C</a:t>
            </a:r>
            <a:r>
              <a:rPr lang="en-US" altLang="zh-CN" sz="1200" kern="0" spc="0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TO：[姓名]</a:t>
            </a:r>
          </a:p>
        </p:txBody>
      </p:sp>
      <p:sp>
        <p:nvSpPr>
          <p:cNvPr id="26" name="TextBox26"/>
          <p:cNvSpPr txBox="1"/>
          <p:nvPr/>
        </p:nvSpPr>
        <p:spPr>
          <a:xfrm>
            <a:off x="355600" y="10036176"/>
            <a:ext cx="1295400" cy="190500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3819"/>
              </a:lnSpc>
            </a:pPr>
            <a:r>
              <a:rPr lang="en-US" altLang="zh-CN" sz="1200" kern="0" spc="-25" baseline="0" noProof="0" dirty="0" smtClean="0">
                <a:solidFill>
                  <a:srgbClr val="1F232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X</a:t>
            </a:r>
            <a:r>
              <a:rPr lang="en-US" altLang="zh-CN" sz="1200" kern="0" spc="-2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年</a:t>
            </a:r>
            <a:r>
              <a:rPr lang="en-US" altLang="zh-CN" sz="1200" kern="0" spc="-1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AI</a:t>
            </a:r>
            <a:r>
              <a:rPr lang="en-US" altLang="zh-CN" sz="1200" kern="0" spc="-25" baseline="0" noProof="0" dirty="0" smtClean="0">
                <a:solidFill>
                  <a:srgbClr val="1F2329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算法研发经验</a:t>
            </a:r>
          </a:p>
        </p:txBody>
      </p:sp>
    </p:spTree>
    <p:extLst>
      <p:ext uri="{557E1DE5-E5AA-4EB0-0BC6-8E55670338C9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E950E649-788C-4700-75F0-DB478F626D93}"/>
  </a:extLst>
</a:theme>
</file>